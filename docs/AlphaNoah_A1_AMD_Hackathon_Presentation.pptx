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  <a:p>
            <a:r>
              <a:t>- https://github.com/binc64358-rgb/AlphaNoah-A1-Edge-Agent-Public/blob/8301346acdfaaa8e7632950303d4546e7108f3ad/docs/demo/OLLAMA_EVENT_ANALYSIS.md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User-provided, confirmed AlphaNoah A1 Edge Agent deck brief, 2026-08-06.</a:t>
            </a:r>
          </a:p>
          <a:p>
            <a:r>
              <a:t>- https://github.com/binc64358-rgb/AlphaNoah-A1-Edge-Agent-Public/blob/00b65c667a89ba9202d4fd1769f9d369c84aeba6/README.md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grid-v-780"/>
          <p:cNvSpPr>
            <a:spLocks noGrp="1"/>
          </p:cNvSpPr>
          <p:nvPr/>
        </p:nvSpPr>
        <p:spPr>
          <a:xfrm>
            <a:off x="742950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2" name="grid-v-850"/>
          <p:cNvSpPr>
            <a:spLocks noGrp="1"/>
          </p:cNvSpPr>
          <p:nvPr/>
        </p:nvSpPr>
        <p:spPr>
          <a:xfrm>
            <a:off x="809625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3" name="grid-v-920"/>
          <p:cNvSpPr>
            <a:spLocks noGrp="1"/>
          </p:cNvSpPr>
          <p:nvPr/>
        </p:nvSpPr>
        <p:spPr>
          <a:xfrm>
            <a:off x="876300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4" name="grid-v-990"/>
          <p:cNvSpPr>
            <a:spLocks noGrp="1"/>
          </p:cNvSpPr>
          <p:nvPr/>
        </p:nvSpPr>
        <p:spPr>
          <a:xfrm>
            <a:off x="942975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5" name="grid-v-1060"/>
          <p:cNvSpPr>
            <a:spLocks noGrp="1"/>
          </p:cNvSpPr>
          <p:nvPr/>
        </p:nvSpPr>
        <p:spPr>
          <a:xfrm>
            <a:off x="1009650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6" name="grid-v-1130"/>
          <p:cNvSpPr>
            <a:spLocks noGrp="1"/>
          </p:cNvSpPr>
          <p:nvPr/>
        </p:nvSpPr>
        <p:spPr>
          <a:xfrm>
            <a:off x="1076325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7" name="grid-v-1200"/>
          <p:cNvSpPr>
            <a:spLocks noGrp="1"/>
          </p:cNvSpPr>
          <p:nvPr/>
        </p:nvSpPr>
        <p:spPr>
          <a:xfrm>
            <a:off x="11430000" y="590550"/>
            <a:ext cx="0" cy="523875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8" name="grid-h-122"/>
          <p:cNvSpPr>
            <a:spLocks noGrp="1"/>
          </p:cNvSpPr>
          <p:nvPr/>
        </p:nvSpPr>
        <p:spPr>
          <a:xfrm>
            <a:off x="6953250" y="116205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9" name="grid-h-192"/>
          <p:cNvSpPr>
            <a:spLocks noGrp="1"/>
          </p:cNvSpPr>
          <p:nvPr/>
        </p:nvSpPr>
        <p:spPr>
          <a:xfrm>
            <a:off x="6953250" y="182880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0" name="grid-h-262"/>
          <p:cNvSpPr>
            <a:spLocks noGrp="1"/>
          </p:cNvSpPr>
          <p:nvPr/>
        </p:nvSpPr>
        <p:spPr>
          <a:xfrm>
            <a:off x="6953250" y="249555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1" name="grid-h-332"/>
          <p:cNvSpPr>
            <a:spLocks noGrp="1"/>
          </p:cNvSpPr>
          <p:nvPr/>
        </p:nvSpPr>
        <p:spPr>
          <a:xfrm>
            <a:off x="6953250" y="316230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2" name="grid-h-402"/>
          <p:cNvSpPr>
            <a:spLocks noGrp="1"/>
          </p:cNvSpPr>
          <p:nvPr/>
        </p:nvSpPr>
        <p:spPr>
          <a:xfrm>
            <a:off x="6953250" y="382905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3" name="grid-h-472"/>
          <p:cNvSpPr>
            <a:spLocks noGrp="1"/>
          </p:cNvSpPr>
          <p:nvPr/>
        </p:nvSpPr>
        <p:spPr>
          <a:xfrm>
            <a:off x="6953250" y="449580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4" name="grid-h-542"/>
          <p:cNvSpPr>
            <a:spLocks noGrp="1"/>
          </p:cNvSpPr>
          <p:nvPr/>
        </p:nvSpPr>
        <p:spPr>
          <a:xfrm>
            <a:off x="6953250" y="516255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5" name="grid-h-612"/>
          <p:cNvSpPr>
            <a:spLocks noGrp="1"/>
          </p:cNvSpPr>
          <p:nvPr/>
        </p:nvSpPr>
        <p:spPr>
          <a:xfrm>
            <a:off x="6953250" y="5829300"/>
            <a:ext cx="4552950" cy="0"/>
          </a:xfrm>
          <a:prstGeom prst="line">
            <a:avLst/>
          </a:prstGeom>
          <a:noFill/>
          <a:ln w="5715">
            <a:solidFill>
              <a:srgbClr val="2B353A"/>
            </a:solidFill>
            <a:prstDash val="solid"/>
          </a:ln>
        </p:spPr>
      </p:sp>
      <p:sp>
        <p:nvSpPr>
          <p:cNvPr id="16" name="s1-eyebrow"/>
          <p:cNvSpPr>
            <a:spLocks noGrp="1"/>
          </p:cNvSpPr>
          <p:nvPr/>
        </p:nvSpPr>
        <p:spPr>
          <a:xfrm>
            <a:off x="800100" y="5524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1050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1-page"/>
          <p:cNvSpPr>
            <a:spLocks noGrp="1"/>
          </p:cNvSpPr>
          <p:nvPr/>
        </p:nvSpPr>
        <p:spPr>
          <a:xfrm>
            <a:off x="10744200" y="5524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01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1-title"/>
          <p:cNvSpPr>
            <a:spLocks noGrp="1"/>
          </p:cNvSpPr>
          <p:nvPr/>
        </p:nvSpPr>
        <p:spPr>
          <a:xfrm>
            <a:off x="800100" y="1752600"/>
            <a:ext cx="876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4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1-subtitle"/>
          <p:cNvSpPr>
            <a:spLocks noGrp="1"/>
          </p:cNvSpPr>
          <p:nvPr/>
        </p:nvSpPr>
        <p:spPr>
          <a:xfrm>
            <a:off x="800100" y="270510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Local AI workflow for industrial equipment troubleshooting.</a:t>
            </a:r>
            <a:endParaRPr sz="2100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1-cyan-rule"/>
          <p:cNvSpPr>
            <a:spLocks noGrp="1"/>
          </p:cNvSpPr>
          <p:nvPr/>
        </p:nvSpPr>
        <p:spPr>
          <a:xfrm>
            <a:off x="800100" y="3695700"/>
            <a:ext cx="1181100" cy="0"/>
          </a:xfrm>
          <a:prstGeom prst="line">
            <a:avLst/>
          </a:prstGeom>
          <a:noFill/>
          <a:ln w="28575">
            <a:solidFill>
              <a:srgbClr val="58C6D6"/>
            </a:solidFill>
            <a:prstDash val="solid"/>
          </a:ln>
        </p:spPr>
      </p:sp>
      <p:sp>
        <p:nvSpPr>
          <p:cNvPr id="21" name="s1-AMD-Ryzen-AI-Max+-395"/>
          <p:cNvSpPr>
            <a:spLocks noGrp="1"/>
          </p:cNvSpPr>
          <p:nvPr/>
        </p:nvSpPr>
        <p:spPr>
          <a:xfrm>
            <a:off x="800100" y="41910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AMD Ryzen AI Max+ 395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1-Local-inference-path"/>
          <p:cNvSpPr>
            <a:spLocks noGrp="1"/>
          </p:cNvSpPr>
          <p:nvPr/>
        </p:nvSpPr>
        <p:spPr>
          <a:xfrm>
            <a:off x="3771900" y="4191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inference path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s1-Human-controlled-workflow"/>
          <p:cNvSpPr>
            <a:spLocks noGrp="1"/>
          </p:cNvSpPr>
          <p:nvPr/>
        </p:nvSpPr>
        <p:spPr>
          <a:xfrm>
            <a:off x="6381750" y="41910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Human-controlled workflow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1-sep-1"/>
          <p:cNvSpPr>
            <a:spLocks noGrp="1"/>
          </p:cNvSpPr>
          <p:nvPr/>
        </p:nvSpPr>
        <p:spPr>
          <a:xfrm>
            <a:off x="3476625" y="4171950"/>
            <a:ext cx="0" cy="30480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25" name="s1-sep-2"/>
          <p:cNvSpPr>
            <a:spLocks noGrp="1"/>
          </p:cNvSpPr>
          <p:nvPr/>
        </p:nvSpPr>
        <p:spPr>
          <a:xfrm>
            <a:off x="6096000" y="4171950"/>
            <a:ext cx="0" cy="30480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26" name="s1-boundary"/>
          <p:cNvSpPr>
            <a:spLocks noGrp="1"/>
          </p:cNvSpPr>
          <p:nvPr/>
        </p:nvSpPr>
        <p:spPr>
          <a:xfrm>
            <a:off x="800100" y="52959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A bounded and auditable edge AI workflow.</a:t>
            </a:r>
            <a:endParaRPr sz="1425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eyebrow-2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2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02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2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The Problem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2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2-lead"/>
          <p:cNvSpPr>
            <a:spLocks noGrp="1"/>
          </p:cNvSpPr>
          <p:nvPr/>
        </p:nvSpPr>
        <p:spPr>
          <a:xfrm>
            <a:off x="685800" y="1504950"/>
            <a:ext cx="533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Troubleshooting knowledge exists, but it is difficult to apply consistently at the moment of need.</a:t>
            </a:r>
            <a:endParaRPr sz="1800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2-b1-mark"/>
          <p:cNvSpPr>
            <a:spLocks noGrp="1"/>
          </p:cNvSpPr>
          <p:nvPr/>
        </p:nvSpPr>
        <p:spPr>
          <a:xfrm>
            <a:off x="685800" y="284797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7" name="s2-b1"/>
          <p:cNvSpPr>
            <a:spLocks noGrp="1"/>
          </p:cNvSpPr>
          <p:nvPr/>
        </p:nvSpPr>
        <p:spPr>
          <a:xfrm>
            <a:off x="990600" y="27241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Equipment troubleshooting depends on individual experience.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2-b2-mark"/>
          <p:cNvSpPr>
            <a:spLocks noGrp="1"/>
          </p:cNvSpPr>
          <p:nvPr/>
        </p:nvSpPr>
        <p:spPr>
          <a:xfrm>
            <a:off x="685800" y="368617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9" name="s2-b2"/>
          <p:cNvSpPr>
            <a:spLocks noGrp="1"/>
          </p:cNvSpPr>
          <p:nvPr/>
        </p:nvSpPr>
        <p:spPr>
          <a:xfrm>
            <a:off x="990600" y="35623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Procedures and past observations are difficult to reuse.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2-b3-mark"/>
          <p:cNvSpPr>
            <a:spLocks noGrp="1"/>
          </p:cNvSpPr>
          <p:nvPr/>
        </p:nvSpPr>
        <p:spPr>
          <a:xfrm>
            <a:off x="685800" y="452437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11" name="s2-b3"/>
          <p:cNvSpPr>
            <a:spLocks noGrp="1"/>
          </p:cNvSpPr>
          <p:nvPr/>
        </p:nvSpPr>
        <p:spPr>
          <a:xfrm>
            <a:off x="990600" y="44005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Cloud-first AI may not fit private industrial environments.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2-image-placeholder"/>
          <p:cNvSpPr>
            <a:spLocks noGrp="1"/>
          </p:cNvSpPr>
          <p:nvPr/>
        </p:nvSpPr>
        <p:spPr>
          <a:xfrm>
            <a:off x="6819900" y="1619250"/>
            <a:ext cx="4686300" cy="3695700"/>
          </a:xfrm>
          <a:prstGeom prst="roundRect">
            <a:avLst>
              <a:gd name="adj" fmla="val 3608"/>
            </a:avLst>
          </a:prstGeom>
          <a:solidFill>
            <a:srgbClr val="151C20"/>
          </a:solidFill>
          <a:ln w="14288">
            <a:solidFill>
              <a:srgbClr val="3A474D"/>
            </a:solidFill>
            <a:prstDash val="dash"/>
          </a:ln>
        </p:spPr>
      </p:sp>
      <p:sp>
        <p:nvSpPr>
          <p:cNvPr id="13" name="s2-image-placeholder-label"/>
          <p:cNvSpPr>
            <a:spLocks noGrp="1"/>
          </p:cNvSpPr>
          <p:nvPr/>
        </p:nvSpPr>
        <p:spPr>
          <a:xfrm>
            <a:off x="7086600" y="3114675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IMAGE PLACEHOLDER</a:t>
            </a:r>
            <a:endParaRPr sz="120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2-image-placeholder-replace"/>
          <p:cNvSpPr>
            <a:spLocks noGrp="1"/>
          </p:cNvSpPr>
          <p:nvPr/>
        </p:nvSpPr>
        <p:spPr>
          <a:xfrm>
            <a:off x="7086600" y="3448050"/>
            <a:ext cx="4152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Replace with: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equipment / maintenance context photo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2-boundary"/>
          <p:cNvSpPr>
            <a:spLocks noGrp="1"/>
          </p:cNvSpPr>
          <p:nvPr/>
        </p:nvSpPr>
        <p:spPr>
          <a:xfrm>
            <a:off x="6819900" y="5486400"/>
            <a:ext cx="468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Use a licensed, non-customer image. No generated image is embedded.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footer-rule-2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17" name="footer-2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9" name="图片 18" descr="8135237447b46eaa644c6e4f673b35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645" y="1565275"/>
            <a:ext cx="5718175" cy="4098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eyebrow-3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3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03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3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From Problem Report to Human Decision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3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3-node-1"/>
          <p:cNvSpPr>
            <a:spLocks noGrp="1"/>
          </p:cNvSpPr>
          <p:nvPr/>
        </p:nvSpPr>
        <p:spPr>
          <a:xfrm>
            <a:off x="3790950" y="1428750"/>
            <a:ext cx="4610100" cy="552450"/>
          </a:xfrm>
          <a:prstGeom prst="roundRect">
            <a:avLst>
              <a:gd name="adj" fmla="val 20690"/>
            </a:avLst>
          </a:prstGeom>
          <a:solidFill>
            <a:srgbClr val="182226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5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Problem Report</a:t>
            </a:r>
            <a:endParaRPr sz="15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3-node-2"/>
          <p:cNvSpPr>
            <a:spLocks noGrp="1"/>
          </p:cNvSpPr>
          <p:nvPr/>
        </p:nvSpPr>
        <p:spPr>
          <a:xfrm>
            <a:off x="3790950" y="2209800"/>
            <a:ext cx="4610100" cy="552450"/>
          </a:xfrm>
          <a:prstGeom prst="roundRect">
            <a:avLst>
              <a:gd name="adj" fmla="val 20690"/>
            </a:avLst>
          </a:prstGeom>
          <a:solidFill>
            <a:srgbClr val="173038"/>
          </a:solidFill>
          <a:ln w="11430">
            <a:solidFill>
              <a:srgbClr val="58C6D6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50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Local AI Analysis</a:t>
            </a:r>
            <a:endParaRPr sz="150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3-node-3"/>
          <p:cNvSpPr>
            <a:spLocks noGrp="1"/>
          </p:cNvSpPr>
          <p:nvPr/>
        </p:nvSpPr>
        <p:spPr>
          <a:xfrm>
            <a:off x="3790950" y="2990850"/>
            <a:ext cx="4610100" cy="552450"/>
          </a:xfrm>
          <a:prstGeom prst="roundRect">
            <a:avLst>
              <a:gd name="adj" fmla="val 20690"/>
            </a:avLst>
          </a:prstGeom>
          <a:solidFill>
            <a:srgbClr val="182226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Structured Preliminary Diagnosis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3-node-4"/>
          <p:cNvSpPr>
            <a:spLocks noGrp="1"/>
          </p:cNvSpPr>
          <p:nvPr/>
        </p:nvSpPr>
        <p:spPr>
          <a:xfrm>
            <a:off x="3790950" y="3771900"/>
            <a:ext cx="4610100" cy="552450"/>
          </a:xfrm>
          <a:prstGeom prst="roundRect">
            <a:avLst>
              <a:gd name="adj" fmla="val 20690"/>
            </a:avLst>
          </a:prstGeom>
          <a:solidFill>
            <a:srgbClr val="182226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5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Recommended Actions</a:t>
            </a:r>
            <a:endParaRPr sz="15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3-node-5"/>
          <p:cNvSpPr>
            <a:spLocks noGrp="1"/>
          </p:cNvSpPr>
          <p:nvPr/>
        </p:nvSpPr>
        <p:spPr>
          <a:xfrm>
            <a:off x="3790950" y="4552950"/>
            <a:ext cx="4610100" cy="552450"/>
          </a:xfrm>
          <a:prstGeom prst="roundRect">
            <a:avLst>
              <a:gd name="adj" fmla="val 20690"/>
            </a:avLst>
          </a:prstGeom>
          <a:solidFill>
            <a:srgbClr val="302619"/>
          </a:solidFill>
          <a:ln w="11430">
            <a:solidFill>
              <a:srgbClr val="D3A24C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500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Human Review</a:t>
            </a:r>
            <a:endParaRPr sz="1500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7" name="直接箭头连接符 26"/>
          <p:cNvCxnSpPr>
            <a:stCxn id="5" idx="2"/>
            <a:endCxn id="6" idx="0"/>
          </p:cNvCxnSpPr>
          <p:nvPr/>
        </p:nvCxnSpPr>
        <p:spPr>
          <a:xfrm>
            <a:off x="6096000" y="1981200"/>
            <a:ext cx="0" cy="228600"/>
          </a:xfrm>
          <a:prstGeom prst="straightConnector1">
            <a:avLst/>
          </a:prstGeom>
          <a:ln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8" name="直接箭头连接符 27"/>
          <p:cNvCxnSpPr>
            <a:stCxn id="6" idx="2"/>
            <a:endCxn id="7" idx="0"/>
          </p:cNvCxnSpPr>
          <p:nvPr/>
        </p:nvCxnSpPr>
        <p:spPr>
          <a:xfrm>
            <a:off x="6096000" y="2762250"/>
            <a:ext cx="0" cy="228600"/>
          </a:xfrm>
          <a:prstGeom prst="straightConnector1">
            <a:avLst/>
          </a:prstGeom>
          <a:ln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直接箭头连接符 28"/>
          <p:cNvCxnSpPr>
            <a:stCxn id="7" idx="2"/>
            <a:endCxn id="8" idx="0"/>
          </p:cNvCxnSpPr>
          <p:nvPr/>
        </p:nvCxnSpPr>
        <p:spPr>
          <a:xfrm>
            <a:off x="6096000" y="3543300"/>
            <a:ext cx="0" cy="228600"/>
          </a:xfrm>
          <a:prstGeom prst="straightConnector1">
            <a:avLst/>
          </a:prstGeom>
          <a:ln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" name="直接箭头连接符 29"/>
          <p:cNvCxnSpPr>
            <a:stCxn id="8" idx="2"/>
            <a:endCxn id="9" idx="0"/>
          </p:cNvCxnSpPr>
          <p:nvPr/>
        </p:nvCxnSpPr>
        <p:spPr>
          <a:xfrm>
            <a:off x="6096000" y="4324350"/>
            <a:ext cx="0" cy="228600"/>
          </a:xfrm>
          <a:prstGeom prst="straightConnector1">
            <a:avLst/>
          </a:prstGeom>
          <a:ln w="19050">
            <a:solidFill>
              <a:srgbClr val="D3A24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s3-bottom-accent"/>
          <p:cNvSpPr>
            <a:spLocks noGrp="1"/>
          </p:cNvSpPr>
          <p:nvPr/>
        </p:nvSpPr>
        <p:spPr>
          <a:xfrm>
            <a:off x="4171950" y="5753100"/>
            <a:ext cx="609600" cy="0"/>
          </a:xfrm>
          <a:prstGeom prst="line">
            <a:avLst/>
          </a:prstGeom>
          <a:noFill/>
          <a:ln w="19050">
            <a:solidFill>
              <a:srgbClr val="D3A24C"/>
            </a:solidFill>
            <a:prstDash val="solid"/>
          </a:ln>
        </p:spPr>
      </p:sp>
      <p:sp>
        <p:nvSpPr>
          <p:cNvPr id="15" name="s3-boundary"/>
          <p:cNvSpPr>
            <a:spLocks noGrp="1"/>
          </p:cNvSpPr>
          <p:nvPr/>
        </p:nvSpPr>
        <p:spPr>
          <a:xfrm>
            <a:off x="4914900" y="5619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No device command is generated.</a:t>
            </a:r>
            <a:endParaRPr sz="1425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footer-rule-3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17" name="footer-3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eyebrow-4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4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04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4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Digital Employee Concept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4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4-equation"/>
          <p:cNvSpPr>
            <a:spLocks noGrp="1"/>
          </p:cNvSpPr>
          <p:nvPr/>
        </p:nvSpPr>
        <p:spPr>
          <a:xfrm>
            <a:off x="685800" y="1657350"/>
            <a:ext cx="533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Digital Employee =</a:t>
            </a:r>
            <a:endParaRPr sz="24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4-item-1"/>
          <p:cNvSpPr>
            <a:spLocks noGrp="1"/>
          </p:cNvSpPr>
          <p:nvPr/>
        </p:nvSpPr>
        <p:spPr>
          <a:xfrm>
            <a:off x="1047750" y="24574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Capability</a:t>
            </a:r>
            <a:endParaRPr sz="187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4-item-line-1"/>
          <p:cNvSpPr>
            <a:spLocks noGrp="1"/>
          </p:cNvSpPr>
          <p:nvPr/>
        </p:nvSpPr>
        <p:spPr>
          <a:xfrm>
            <a:off x="1047750" y="2952750"/>
            <a:ext cx="40005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8" name="s4-item-2"/>
          <p:cNvSpPr>
            <a:spLocks noGrp="1"/>
          </p:cNvSpPr>
          <p:nvPr/>
        </p:nvSpPr>
        <p:spPr>
          <a:xfrm>
            <a:off x="1047750" y="31432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+  Knowledge</a:t>
            </a:r>
            <a:endParaRPr sz="18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4-item-line-2"/>
          <p:cNvSpPr>
            <a:spLocks noGrp="1"/>
          </p:cNvSpPr>
          <p:nvPr/>
        </p:nvSpPr>
        <p:spPr>
          <a:xfrm>
            <a:off x="1047750" y="3638550"/>
            <a:ext cx="40005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10" name="s4-item-3"/>
          <p:cNvSpPr>
            <a:spLocks noGrp="1"/>
          </p:cNvSpPr>
          <p:nvPr/>
        </p:nvSpPr>
        <p:spPr>
          <a:xfrm>
            <a:off x="1047750" y="38290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+  Role Context</a:t>
            </a:r>
            <a:endParaRPr sz="18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4-example"/>
          <p:cNvSpPr>
            <a:spLocks noGrp="1"/>
          </p:cNvSpPr>
          <p:nvPr/>
        </p:nvSpPr>
        <p:spPr>
          <a:xfrm>
            <a:off x="685800" y="46863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Equipment Troubleshooting Employee</a:t>
            </a:r>
            <a:endParaRPr sz="165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4-ui-placeholder"/>
          <p:cNvSpPr>
            <a:spLocks noGrp="1"/>
          </p:cNvSpPr>
          <p:nvPr/>
        </p:nvSpPr>
        <p:spPr>
          <a:xfrm>
            <a:off x="6838950" y="1676400"/>
            <a:ext cx="4667250" cy="3314700"/>
          </a:xfrm>
          <a:prstGeom prst="roundRect">
            <a:avLst>
              <a:gd name="adj" fmla="val 4023"/>
            </a:avLst>
          </a:prstGeom>
          <a:solidFill>
            <a:srgbClr val="151C20"/>
          </a:solidFill>
          <a:ln w="14288">
            <a:solidFill>
              <a:srgbClr val="3A474D"/>
            </a:solidFill>
            <a:prstDash val="dash"/>
          </a:ln>
        </p:spPr>
      </p:sp>
      <p:sp>
        <p:nvSpPr>
          <p:cNvPr id="13" name="s4-ui-placeholder-label"/>
          <p:cNvSpPr>
            <a:spLocks noGrp="1"/>
          </p:cNvSpPr>
          <p:nvPr/>
        </p:nvSpPr>
        <p:spPr>
          <a:xfrm>
            <a:off x="7105650" y="2981325"/>
            <a:ext cx="413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IMAGE PLACEHOLDER</a:t>
            </a:r>
            <a:endParaRPr sz="120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4-ui-placeholder-replace"/>
          <p:cNvSpPr>
            <a:spLocks noGrp="1"/>
          </p:cNvSpPr>
          <p:nvPr/>
        </p:nvSpPr>
        <p:spPr>
          <a:xfrm>
            <a:off x="7105650" y="3314700"/>
            <a:ext cx="41338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Replace with: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Digital Employee UI screenshot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4-boundary-rule"/>
          <p:cNvSpPr>
            <a:spLocks noGrp="1"/>
          </p:cNvSpPr>
          <p:nvPr/>
        </p:nvSpPr>
        <p:spPr>
          <a:xfrm>
            <a:off x="685800" y="5467350"/>
            <a:ext cx="10820400" cy="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16" name="s4-boundary"/>
          <p:cNvSpPr>
            <a:spLocks noGrp="1"/>
          </p:cNvSpPr>
          <p:nvPr/>
        </p:nvSpPr>
        <p:spPr>
          <a:xfrm>
            <a:off x="685800" y="56578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A human-understandable, read-only capability projection.</a:t>
            </a:r>
            <a:endParaRPr sz="1350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4-not"/>
          <p:cNvSpPr>
            <a:spLocks noGrp="1"/>
          </p:cNvSpPr>
          <p:nvPr/>
        </p:nvSpPr>
        <p:spPr>
          <a:xfrm>
            <a:off x="7239000" y="56578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Not a chatbot · Not an autonomous worker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footer-rule-4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19" name="footer-4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3" name="图片 22"/>
          <p:cNvPicPr/>
          <p:nvPr/>
        </p:nvPicPr>
        <p:blipFill>
          <a:blip r:embed="rId1"/>
          <a:stretch>
            <a:fillRect/>
          </a:stretch>
        </p:blipFill>
        <p:spPr>
          <a:xfrm>
            <a:off x="6600190" y="1556385"/>
            <a:ext cx="4919345" cy="3552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eyebrow-5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5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05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System Architecture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5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5-operator"/>
          <p:cNvSpPr>
            <a:spLocks noGrp="1"/>
          </p:cNvSpPr>
          <p:nvPr/>
        </p:nvSpPr>
        <p:spPr>
          <a:xfrm>
            <a:off x="723900" y="1581150"/>
            <a:ext cx="2095500" cy="457200"/>
          </a:xfrm>
          <a:prstGeom prst="roundRect">
            <a:avLst>
              <a:gd name="adj" fmla="val 25000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Operator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5-ui"/>
          <p:cNvSpPr>
            <a:spLocks noGrp="1"/>
          </p:cNvSpPr>
          <p:nvPr/>
        </p:nvSpPr>
        <p:spPr>
          <a:xfrm>
            <a:off x="723900" y="2343150"/>
            <a:ext cx="2095500" cy="476250"/>
          </a:xfrm>
          <a:prstGeom prst="roundRect">
            <a:avLst>
              <a:gd name="adj" fmla="val 24000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User Interface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5-event"/>
          <p:cNvSpPr>
            <a:spLocks noGrp="1"/>
          </p:cNvSpPr>
          <p:nvPr/>
        </p:nvSpPr>
        <p:spPr>
          <a:xfrm>
            <a:off x="723900" y="3124200"/>
            <a:ext cx="2095500" cy="476250"/>
          </a:xfrm>
          <a:prstGeom prst="roundRect">
            <a:avLst>
              <a:gd name="adj" fmla="val 24000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Bounded Event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5-runtime"/>
          <p:cNvSpPr>
            <a:spLocks noGrp="1"/>
          </p:cNvSpPr>
          <p:nvPr/>
        </p:nvSpPr>
        <p:spPr>
          <a:xfrm>
            <a:off x="3619500" y="2667000"/>
            <a:ext cx="2762250" cy="914400"/>
          </a:xfrm>
          <a:prstGeom prst="roundRect">
            <a:avLst>
              <a:gd name="adj" fmla="val 12500"/>
            </a:avLst>
          </a:prstGeom>
          <a:solidFill>
            <a:srgbClr val="173038"/>
          </a:solidFill>
          <a:ln w="11430">
            <a:solidFill>
              <a:srgbClr val="58C6D6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7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AlphaNoah Runtime</a:t>
            </a:r>
            <a:endParaRPr sz="17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5-capability"/>
          <p:cNvSpPr>
            <a:spLocks noGrp="1"/>
          </p:cNvSpPr>
          <p:nvPr/>
        </p:nvSpPr>
        <p:spPr>
          <a:xfrm>
            <a:off x="7239000" y="1562100"/>
            <a:ext cx="3238500" cy="495300"/>
          </a:xfrm>
          <a:prstGeom prst="roundRect">
            <a:avLst>
              <a:gd name="adj" fmla="val 23077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27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Capability Resolution</a:t>
            </a:r>
            <a:endParaRPr sz="127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5-knowledge"/>
          <p:cNvSpPr>
            <a:spLocks noGrp="1"/>
          </p:cNvSpPr>
          <p:nvPr/>
        </p:nvSpPr>
        <p:spPr>
          <a:xfrm>
            <a:off x="7239000" y="2247900"/>
            <a:ext cx="3238500" cy="495300"/>
          </a:xfrm>
          <a:prstGeom prst="roundRect">
            <a:avLst>
              <a:gd name="adj" fmla="val 23077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27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Knowledge Context</a:t>
            </a:r>
            <a:endParaRPr sz="127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5-sqlite"/>
          <p:cNvSpPr>
            <a:spLocks noGrp="1"/>
          </p:cNvSpPr>
          <p:nvPr/>
        </p:nvSpPr>
        <p:spPr>
          <a:xfrm>
            <a:off x="7239000" y="2933700"/>
            <a:ext cx="3238500" cy="495300"/>
          </a:xfrm>
          <a:prstGeom prst="roundRect">
            <a:avLst>
              <a:gd name="adj" fmla="val 23077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27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SQLite State &amp; Audit</a:t>
            </a:r>
            <a:endParaRPr sz="127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5-provider"/>
          <p:cNvSpPr>
            <a:spLocks noGrp="1"/>
          </p:cNvSpPr>
          <p:nvPr/>
        </p:nvSpPr>
        <p:spPr>
          <a:xfrm>
            <a:off x="7239000" y="3829050"/>
            <a:ext cx="3238500" cy="552450"/>
          </a:xfrm>
          <a:prstGeom prst="roundRect">
            <a:avLst>
              <a:gd name="adj" fmla="val 20690"/>
            </a:avLst>
          </a:prstGeom>
          <a:solidFill>
            <a:srgbClr val="173038"/>
          </a:solidFill>
          <a:ln w="11430">
            <a:solidFill>
              <a:srgbClr val="58C6D6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4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Explicit AI Provider</a:t>
            </a:r>
            <a:endParaRPr sz="14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5-result"/>
          <p:cNvSpPr>
            <a:spLocks noGrp="1"/>
          </p:cNvSpPr>
          <p:nvPr/>
        </p:nvSpPr>
        <p:spPr>
          <a:xfrm>
            <a:off x="3619500" y="4552950"/>
            <a:ext cx="2762250" cy="552450"/>
          </a:xfrm>
          <a:prstGeom prst="roundRect">
            <a:avLst>
              <a:gd name="adj" fmla="val 20690"/>
            </a:avLst>
          </a:prstGeom>
          <a:solidFill>
            <a:srgbClr val="182226"/>
          </a:solidFill>
          <a:ln w="11430">
            <a:solidFill>
              <a:srgbClr val="58C6D6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42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Structured Result</a:t>
            </a:r>
            <a:endParaRPr sz="142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5-review"/>
          <p:cNvSpPr>
            <a:spLocks noGrp="1"/>
          </p:cNvSpPr>
          <p:nvPr/>
        </p:nvSpPr>
        <p:spPr>
          <a:xfrm>
            <a:off x="3619500" y="5467350"/>
            <a:ext cx="2762250" cy="552450"/>
          </a:xfrm>
          <a:prstGeom prst="roundRect">
            <a:avLst>
              <a:gd name="adj" fmla="val 20690"/>
            </a:avLst>
          </a:prstGeom>
          <a:solidFill>
            <a:srgbClr val="302619"/>
          </a:solidFill>
          <a:ln w="11430">
            <a:solidFill>
              <a:srgbClr val="D3A24C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500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Human Review</a:t>
            </a:r>
            <a:endParaRPr sz="1500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46" name="直接箭头连接符 45"/>
          <p:cNvCxnSpPr>
            <a:stCxn id="5" idx="2"/>
            <a:endCxn id="6" idx="0"/>
          </p:cNvCxnSpPr>
          <p:nvPr/>
        </p:nvCxnSpPr>
        <p:spPr>
          <a:xfrm>
            <a:off x="1771650" y="2038350"/>
            <a:ext cx="0" cy="304800"/>
          </a:xfrm>
          <a:prstGeom prst="straightConnector1">
            <a:avLst/>
          </a:prstGeom>
          <a:ln w="16193">
            <a:solidFill>
              <a:srgbClr val="3A47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直接箭头连接符 46"/>
          <p:cNvCxnSpPr>
            <a:stCxn id="6" idx="2"/>
            <a:endCxn id="7" idx="0"/>
          </p:cNvCxnSpPr>
          <p:nvPr/>
        </p:nvCxnSpPr>
        <p:spPr>
          <a:xfrm>
            <a:off x="1771650" y="2819400"/>
            <a:ext cx="0" cy="304800"/>
          </a:xfrm>
          <a:prstGeom prst="straightConnector1">
            <a:avLst/>
          </a:prstGeom>
          <a:ln w="16193">
            <a:solidFill>
              <a:srgbClr val="3A47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肘形连接符 47"/>
          <p:cNvCxnSpPr>
            <a:stCxn id="7" idx="3"/>
            <a:endCxn id="8" idx="1"/>
          </p:cNvCxnSpPr>
          <p:nvPr/>
        </p:nvCxnSpPr>
        <p:spPr>
          <a:xfrm flipV="1">
            <a:off x="2819400" y="3124200"/>
            <a:ext cx="800100" cy="238125"/>
          </a:xfrm>
          <a:prstGeom prst="bentConnector3">
            <a:avLst>
              <a:gd name="adj1" fmla="val 50000"/>
            </a:avLst>
          </a:prstGeom>
          <a:ln w="17145">
            <a:solidFill>
              <a:srgbClr val="3A47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" name="肘形连接符 48"/>
          <p:cNvCxnSpPr>
            <a:stCxn id="8" idx="3"/>
            <a:endCxn id="9" idx="1"/>
          </p:cNvCxnSpPr>
          <p:nvPr/>
        </p:nvCxnSpPr>
        <p:spPr>
          <a:xfrm flipV="1">
            <a:off x="6381750" y="1809750"/>
            <a:ext cx="857250" cy="1314450"/>
          </a:xfrm>
          <a:prstGeom prst="bentConnector3">
            <a:avLst>
              <a:gd name="adj1" fmla="val 50000"/>
            </a:avLst>
          </a:prstGeom>
          <a:ln w="13335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50" name="肘形连接符 49"/>
          <p:cNvCxnSpPr>
            <a:stCxn id="8" idx="3"/>
            <a:endCxn id="10" idx="1"/>
          </p:cNvCxnSpPr>
          <p:nvPr/>
        </p:nvCxnSpPr>
        <p:spPr>
          <a:xfrm flipV="1">
            <a:off x="6381750" y="2495550"/>
            <a:ext cx="857250" cy="628650"/>
          </a:xfrm>
          <a:prstGeom prst="bentConnector3">
            <a:avLst>
              <a:gd name="adj1" fmla="val 50000"/>
            </a:avLst>
          </a:prstGeom>
          <a:ln w="13335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51" name="肘形连接符 50"/>
          <p:cNvCxnSpPr>
            <a:stCxn id="8" idx="3"/>
            <a:endCxn id="11" idx="1"/>
          </p:cNvCxnSpPr>
          <p:nvPr/>
        </p:nvCxnSpPr>
        <p:spPr>
          <a:xfrm>
            <a:off x="6381750" y="3124200"/>
            <a:ext cx="857250" cy="57150"/>
          </a:xfrm>
          <a:prstGeom prst="bentConnector3">
            <a:avLst>
              <a:gd name="adj1" fmla="val 50000"/>
            </a:avLst>
          </a:prstGeom>
          <a:ln w="13335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52" name="肘形连接符 51"/>
          <p:cNvCxnSpPr>
            <a:stCxn id="8" idx="3"/>
            <a:endCxn id="12" idx="1"/>
          </p:cNvCxnSpPr>
          <p:nvPr/>
        </p:nvCxnSpPr>
        <p:spPr>
          <a:xfrm>
            <a:off x="6381750" y="3124200"/>
            <a:ext cx="857250" cy="981075"/>
          </a:xfrm>
          <a:prstGeom prst="bentConnector3">
            <a:avLst>
              <a:gd name="adj1" fmla="val 50000"/>
            </a:avLst>
          </a:prstGeom>
          <a:ln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直接箭头连接符 52"/>
          <p:cNvCxnSpPr>
            <a:stCxn id="9" idx="2"/>
            <a:endCxn id="12" idx="0"/>
          </p:cNvCxnSpPr>
          <p:nvPr/>
        </p:nvCxnSpPr>
        <p:spPr>
          <a:xfrm>
            <a:off x="8858250" y="2057400"/>
            <a:ext cx="0" cy="1771650"/>
          </a:xfrm>
          <a:prstGeom prst="straightConnector1">
            <a:avLst/>
          </a:prstGeom>
          <a:ln w="11430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54" name="直接箭头连接符 53"/>
          <p:cNvCxnSpPr>
            <a:stCxn id="10" idx="2"/>
            <a:endCxn id="12" idx="0"/>
          </p:cNvCxnSpPr>
          <p:nvPr/>
        </p:nvCxnSpPr>
        <p:spPr>
          <a:xfrm>
            <a:off x="8858250" y="2743200"/>
            <a:ext cx="0" cy="1085850"/>
          </a:xfrm>
          <a:prstGeom prst="straightConnector1">
            <a:avLst/>
          </a:prstGeom>
          <a:ln w="11430">
            <a:solidFill>
              <a:srgbClr val="3A474D"/>
            </a:solidFill>
            <a:prstDash val="solid"/>
            <a:headEnd type="none" w="med" len="med"/>
            <a:tailEnd type="none" w="sm" len="sm"/>
          </a:ln>
        </p:spPr>
      </p:cxnSp>
      <p:cxnSp>
        <p:nvCxnSpPr>
          <p:cNvPr id="55" name="肘形连接符 54"/>
          <p:cNvCxnSpPr>
            <a:stCxn id="12" idx="1"/>
            <a:endCxn id="13" idx="3"/>
          </p:cNvCxnSpPr>
          <p:nvPr/>
        </p:nvCxnSpPr>
        <p:spPr>
          <a:xfrm flipH="1">
            <a:off x="6381750" y="4105275"/>
            <a:ext cx="857250" cy="723900"/>
          </a:xfrm>
          <a:prstGeom prst="bentConnector3">
            <a:avLst>
              <a:gd name="adj1" fmla="val 50000"/>
            </a:avLst>
          </a:prstGeom>
          <a:ln w="19050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6" name="直接箭头连接符 55"/>
          <p:cNvCxnSpPr>
            <a:stCxn id="13" idx="2"/>
            <a:endCxn id="14" idx="0"/>
          </p:cNvCxnSpPr>
          <p:nvPr/>
        </p:nvCxnSpPr>
        <p:spPr>
          <a:xfrm>
            <a:off x="5000625" y="5105400"/>
            <a:ext cx="0" cy="361950"/>
          </a:xfrm>
          <a:prstGeom prst="straightConnector1">
            <a:avLst/>
          </a:prstGeom>
          <a:ln w="19050">
            <a:solidFill>
              <a:srgbClr val="D3A24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6" name="s5-ai-note"/>
          <p:cNvSpPr>
            <a:spLocks noGrp="1"/>
          </p:cNvSpPr>
          <p:nvPr/>
        </p:nvSpPr>
        <p:spPr>
          <a:xfrm>
            <a:off x="7239000" y="453390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AI analyzes bounded context.</a:t>
            </a:r>
            <a:endParaRPr sz="1200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s5-foundation-label"/>
          <p:cNvSpPr>
            <a:spLocks noGrp="1"/>
          </p:cNvSpPr>
          <p:nvPr/>
        </p:nvSpPr>
        <p:spPr>
          <a:xfrm>
            <a:off x="7239000" y="50101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00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LOCAL EXECUTION FOUNDATION</a:t>
            </a:r>
            <a:endParaRPr sz="900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5-foundation"/>
          <p:cNvSpPr>
            <a:spLocks noGrp="1"/>
          </p:cNvSpPr>
          <p:nvPr/>
        </p:nvSpPr>
        <p:spPr>
          <a:xfrm>
            <a:off x="6858000" y="52578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Ollama   ·   ROCm   ·   AMD Hardware</a:t>
            </a:r>
            <a:endParaRPr sz="135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5-runtime-note"/>
          <p:cNvSpPr>
            <a:spLocks noGrp="1"/>
          </p:cNvSpPr>
          <p:nvPr/>
        </p:nvSpPr>
        <p:spPr>
          <a:xfrm>
            <a:off x="7086600" y="5791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Runtime controls state, validation and the human-review boundary.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footer-rule-5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31" name="footer-5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eyebrow-6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6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06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6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Demo Scenario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6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6-input-label"/>
          <p:cNvSpPr>
            <a:spLocks noGrp="1"/>
          </p:cNvSpPr>
          <p:nvPr/>
        </p:nvSpPr>
        <p:spPr>
          <a:xfrm>
            <a:off x="685800" y="1581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INPUT</a:t>
            </a:r>
            <a:endParaRPr sz="11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6-input-rule"/>
          <p:cNvSpPr>
            <a:spLocks noGrp="1"/>
          </p:cNvSpPr>
          <p:nvPr/>
        </p:nvSpPr>
        <p:spPr>
          <a:xfrm>
            <a:off x="685800" y="1943100"/>
            <a:ext cx="2476500" cy="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7" name="s6-location-label"/>
          <p:cNvSpPr>
            <a:spLocks noGrp="1"/>
          </p:cNvSpPr>
          <p:nvPr/>
        </p:nvSpPr>
        <p:spPr>
          <a:xfrm>
            <a:off x="685800" y="21907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Location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6-location"/>
          <p:cNvSpPr>
            <a:spLocks noGrp="1"/>
          </p:cNvSpPr>
          <p:nvPr/>
        </p:nvSpPr>
        <p:spPr>
          <a:xfrm>
            <a:off x="685800" y="24765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B03</a:t>
            </a:r>
            <a:endParaRPr sz="210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6-problem-label"/>
          <p:cNvSpPr>
            <a:spLocks noGrp="1"/>
          </p:cNvSpPr>
          <p:nvPr/>
        </p:nvSpPr>
        <p:spPr>
          <a:xfrm>
            <a:off x="685800" y="3143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Problem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6-problem"/>
          <p:cNvSpPr>
            <a:spLocks noGrp="1"/>
          </p:cNvSpPr>
          <p:nvPr/>
        </p:nvSpPr>
        <p:spPr>
          <a:xfrm>
            <a:off x="685800" y="34671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F2EF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2EF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空调出现不制冷</a:t>
            </a:r>
            <a:endParaRPr sz="1875" b="1">
              <a:solidFill>
                <a:srgbClr val="F2EF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6-divider-1"/>
          <p:cNvSpPr>
            <a:spLocks noGrp="1"/>
          </p:cNvSpPr>
          <p:nvPr/>
        </p:nvSpPr>
        <p:spPr>
          <a:xfrm>
            <a:off x="3829050" y="1581150"/>
            <a:ext cx="0" cy="342900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12" name="s6-process-label"/>
          <p:cNvSpPr>
            <a:spLocks noGrp="1"/>
          </p:cNvSpPr>
          <p:nvPr/>
        </p:nvSpPr>
        <p:spPr>
          <a:xfrm>
            <a:off x="4305300" y="1581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LOCAL ANALYSIS</a:t>
            </a:r>
            <a:endParaRPr sz="11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6-process-rule"/>
          <p:cNvSpPr>
            <a:spLocks noGrp="1"/>
          </p:cNvSpPr>
          <p:nvPr/>
        </p:nvSpPr>
        <p:spPr>
          <a:xfrm>
            <a:off x="4305300" y="1943100"/>
            <a:ext cx="2476500" cy="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14" name="s6-ollama"/>
          <p:cNvSpPr>
            <a:spLocks noGrp="1"/>
          </p:cNvSpPr>
          <p:nvPr/>
        </p:nvSpPr>
        <p:spPr>
          <a:xfrm>
            <a:off x="4305300" y="25336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Ollama</a:t>
            </a:r>
            <a:endParaRPr sz="2025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6-model"/>
          <p:cNvSpPr>
            <a:spLocks noGrp="1"/>
          </p:cNvSpPr>
          <p:nvPr/>
        </p:nvSpPr>
        <p:spPr>
          <a:xfrm>
            <a:off x="4305300" y="31051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qwen3.5:9b</a:t>
            </a:r>
            <a:endParaRPr sz="1575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6-process-note"/>
          <p:cNvSpPr>
            <a:spLocks noGrp="1"/>
          </p:cNvSpPr>
          <p:nvPr/>
        </p:nvSpPr>
        <p:spPr>
          <a:xfrm>
            <a:off x="4305300" y="388620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Bounded request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5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Fixed output contract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6-divider-2"/>
          <p:cNvSpPr>
            <a:spLocks noGrp="1"/>
          </p:cNvSpPr>
          <p:nvPr/>
        </p:nvSpPr>
        <p:spPr>
          <a:xfrm>
            <a:off x="7258050" y="1581150"/>
            <a:ext cx="0" cy="342900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18" name="s6-result-label"/>
          <p:cNvSpPr>
            <a:spLocks noGrp="1"/>
          </p:cNvSpPr>
          <p:nvPr/>
        </p:nvSpPr>
        <p:spPr>
          <a:xfrm>
            <a:off x="7734300" y="1581150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STRUCTURED RESULT</a:t>
            </a:r>
            <a:endParaRPr sz="1125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6-result-rule"/>
          <p:cNvSpPr>
            <a:spLocks noGrp="1"/>
          </p:cNvSpPr>
          <p:nvPr/>
        </p:nvSpPr>
        <p:spPr>
          <a:xfrm>
            <a:off x="7734300" y="1943100"/>
            <a:ext cx="3771900" cy="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20" name="s6-result-mark-0"/>
          <p:cNvSpPr>
            <a:spLocks noGrp="1"/>
          </p:cNvSpPr>
          <p:nvPr/>
        </p:nvSpPr>
        <p:spPr>
          <a:xfrm>
            <a:off x="7734300" y="2381250"/>
            <a:ext cx="15240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21" name="s6-result-item-0"/>
          <p:cNvSpPr>
            <a:spLocks noGrp="1"/>
          </p:cNvSpPr>
          <p:nvPr/>
        </p:nvSpPr>
        <p:spPr>
          <a:xfrm>
            <a:off x="8020050" y="2266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Possible causes</a:t>
            </a:r>
            <a:endParaRPr sz="1350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6-result-mark-1"/>
          <p:cNvSpPr>
            <a:spLocks noGrp="1"/>
          </p:cNvSpPr>
          <p:nvPr/>
        </p:nvSpPr>
        <p:spPr>
          <a:xfrm>
            <a:off x="7734300" y="2838450"/>
            <a:ext cx="15240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23" name="s6-result-item-1"/>
          <p:cNvSpPr>
            <a:spLocks noGrp="1"/>
          </p:cNvSpPr>
          <p:nvPr/>
        </p:nvSpPr>
        <p:spPr>
          <a:xfrm>
            <a:off x="8020050" y="2724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Recommended actions</a:t>
            </a:r>
            <a:endParaRPr sz="1350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6-result-mark-2"/>
          <p:cNvSpPr>
            <a:spLocks noGrp="1"/>
          </p:cNvSpPr>
          <p:nvPr/>
        </p:nvSpPr>
        <p:spPr>
          <a:xfrm>
            <a:off x="7734300" y="3295650"/>
            <a:ext cx="152400" cy="0"/>
          </a:xfrm>
          <a:prstGeom prst="line">
            <a:avLst/>
          </a:prstGeom>
          <a:noFill/>
          <a:ln w="19050">
            <a:solidFill>
              <a:srgbClr val="D3A24C"/>
            </a:solidFill>
            <a:prstDash val="solid"/>
          </a:ln>
        </p:spPr>
      </p:sp>
      <p:sp>
        <p:nvSpPr>
          <p:cNvPr id="25" name="s6-result-item-2"/>
          <p:cNvSpPr>
            <a:spLocks noGrp="1"/>
          </p:cNvSpPr>
          <p:nvPr/>
        </p:nvSpPr>
        <p:spPr>
          <a:xfrm>
            <a:off x="8020050" y="3181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Human review required</a:t>
            </a:r>
            <a:endParaRPr sz="1350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6-screenshot-placeholder"/>
          <p:cNvSpPr>
            <a:spLocks noGrp="1"/>
          </p:cNvSpPr>
          <p:nvPr/>
        </p:nvSpPr>
        <p:spPr>
          <a:xfrm>
            <a:off x="7734300" y="3752850"/>
            <a:ext cx="3771900" cy="1257300"/>
          </a:xfrm>
          <a:prstGeom prst="roundRect">
            <a:avLst>
              <a:gd name="adj" fmla="val 10606"/>
            </a:avLst>
          </a:prstGeom>
          <a:solidFill>
            <a:srgbClr val="151C20"/>
          </a:solidFill>
          <a:ln w="14288">
            <a:solidFill>
              <a:srgbClr val="3A474D"/>
            </a:solidFill>
            <a:prstDash val="dash"/>
          </a:ln>
        </p:spPr>
      </p:sp>
      <p:sp>
        <p:nvSpPr>
          <p:cNvPr id="27" name="s6-screenshot-placeholder-label"/>
          <p:cNvSpPr>
            <a:spLocks noGrp="1"/>
          </p:cNvSpPr>
          <p:nvPr/>
        </p:nvSpPr>
        <p:spPr>
          <a:xfrm>
            <a:off x="8001000" y="402907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SCREENSHOT PLACEHOLDER</a:t>
            </a:r>
            <a:endParaRPr sz="120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6-screenshot-placeholder-replace"/>
          <p:cNvSpPr>
            <a:spLocks noGrp="1"/>
          </p:cNvSpPr>
          <p:nvPr/>
        </p:nvSpPr>
        <p:spPr>
          <a:xfrm>
            <a:off x="8001000" y="436245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Replace with: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Real AlphaNoah Event detail screenshot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6-status"/>
          <p:cNvSpPr>
            <a:spLocks noGrp="1"/>
          </p:cNvSpPr>
          <p:nvPr/>
        </p:nvSpPr>
        <p:spPr>
          <a:xfrm>
            <a:off x="685800" y="5429250"/>
            <a:ext cx="10820400" cy="685800"/>
          </a:xfrm>
          <a:prstGeom prst="roundRect">
            <a:avLst>
              <a:gd name="adj" fmla="val 16667"/>
            </a:avLst>
          </a:prstGeom>
          <a:solidFill>
            <a:srgbClr val="302619"/>
          </a:solidFill>
          <a:ln w="13335">
            <a:solidFill>
              <a:srgbClr val="D3A24C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875" b="1">
                <a:solidFill>
                  <a:srgbClr val="D3A24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3A24C"/>
                </a:solidFill>
                <a:latin typeface="Aptos"/>
                <a:ea typeface="Aptos"/>
                <a:cs typeface="Aptos"/>
              </a:rPr>
              <a:t>PENDING_HUMAN_REVIEW</a:t>
            </a:r>
            <a:endParaRPr sz="1875" b="1">
              <a:solidFill>
                <a:srgbClr val="D3A2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footer-rule-6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31" name="footer-6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4" name="图片 33" descr="f04ccd56fe72dc85af30d37e3e248d03"/>
          <p:cNvPicPr>
            <a:picLocks noChangeAspect="1"/>
          </p:cNvPicPr>
          <p:nvPr/>
        </p:nvPicPr>
        <p:blipFill>
          <a:blip r:embed="rId1"/>
          <a:srcRect t="6877" r="-228" b="21409"/>
          <a:stretch>
            <a:fillRect/>
          </a:stretch>
        </p:blipFill>
        <p:spPr>
          <a:xfrm>
            <a:off x="7639050" y="3638550"/>
            <a:ext cx="4010025" cy="1624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eyebrow-7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7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07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7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AMD Edge Validation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7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7-lead"/>
          <p:cNvSpPr>
            <a:spLocks noGrp="1"/>
          </p:cNvSpPr>
          <p:nvPr/>
        </p:nvSpPr>
        <p:spPr>
          <a:xfrm>
            <a:off x="685800" y="1466850"/>
            <a:ext cx="514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A real local execution path was validated on the AMD ROCm environment.</a:t>
            </a:r>
            <a:endParaRPr sz="1650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7-stack-1"/>
          <p:cNvSpPr>
            <a:spLocks noGrp="1"/>
          </p:cNvSpPr>
          <p:nvPr/>
        </p:nvSpPr>
        <p:spPr>
          <a:xfrm>
            <a:off x="1066800" y="2305050"/>
            <a:ext cx="3905250" cy="438150"/>
          </a:xfrm>
          <a:prstGeom prst="roundRect">
            <a:avLst>
              <a:gd name="adj" fmla="val 26087"/>
            </a:avLst>
          </a:prstGeom>
          <a:solidFill>
            <a:srgbClr val="173038"/>
          </a:solidFill>
          <a:ln w="11430">
            <a:solidFill>
              <a:srgbClr val="58C6D6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qwen3.5:9b</a:t>
            </a:r>
            <a:endParaRPr sz="135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7-stack-2"/>
          <p:cNvSpPr>
            <a:spLocks noGrp="1"/>
          </p:cNvSpPr>
          <p:nvPr/>
        </p:nvSpPr>
        <p:spPr>
          <a:xfrm>
            <a:off x="1066800" y="2914650"/>
            <a:ext cx="3905250" cy="438150"/>
          </a:xfrm>
          <a:prstGeom prst="roundRect">
            <a:avLst>
              <a:gd name="adj" fmla="val 26087"/>
            </a:avLst>
          </a:prstGeom>
          <a:solidFill>
            <a:srgbClr val="173038"/>
          </a:solidFill>
          <a:ln w="11430">
            <a:solidFill>
              <a:srgbClr val="58C6D6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Ollama</a:t>
            </a:r>
            <a:endParaRPr sz="135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7-stack-3"/>
          <p:cNvSpPr>
            <a:spLocks noGrp="1"/>
          </p:cNvSpPr>
          <p:nvPr/>
        </p:nvSpPr>
        <p:spPr>
          <a:xfrm>
            <a:off x="1066800" y="3524250"/>
            <a:ext cx="3905250" cy="438150"/>
          </a:xfrm>
          <a:prstGeom prst="roundRect">
            <a:avLst>
              <a:gd name="adj" fmla="val 26087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ROCm 7.2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7-stack-4"/>
          <p:cNvSpPr>
            <a:spLocks noGrp="1"/>
          </p:cNvSpPr>
          <p:nvPr/>
        </p:nvSpPr>
        <p:spPr>
          <a:xfrm>
            <a:off x="1066800" y="4133850"/>
            <a:ext cx="3905250" cy="438150"/>
          </a:xfrm>
          <a:prstGeom prst="roundRect">
            <a:avLst>
              <a:gd name="adj" fmla="val 26087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AMD Radeon 8060S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7-stack-5"/>
          <p:cNvSpPr>
            <a:spLocks noGrp="1"/>
          </p:cNvSpPr>
          <p:nvPr/>
        </p:nvSpPr>
        <p:spPr>
          <a:xfrm>
            <a:off x="1066800" y="4743450"/>
            <a:ext cx="3905250" cy="438150"/>
          </a:xfrm>
          <a:prstGeom prst="roundRect">
            <a:avLst>
              <a:gd name="adj" fmla="val 26087"/>
            </a:avLst>
          </a:prstGeom>
          <a:solidFill>
            <a:srgbClr val="151C20"/>
          </a:solidFill>
          <a:ln w="11430">
            <a:solidFill>
              <a:srgbClr val="3A474D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Ryzen AI Max+ 395</a:t>
            </a:r>
            <a:endParaRPr sz="13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3" name="直接箭头连接符 32"/>
          <p:cNvCxnSpPr>
            <a:stCxn id="6" idx="2"/>
            <a:endCxn id="7" idx="0"/>
          </p:cNvCxnSpPr>
          <p:nvPr/>
        </p:nvCxnSpPr>
        <p:spPr>
          <a:xfrm>
            <a:off x="3019425" y="2743200"/>
            <a:ext cx="0" cy="171450"/>
          </a:xfrm>
          <a:prstGeom prst="straightConnector1">
            <a:avLst/>
          </a:prstGeom>
          <a:ln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直接箭头连接符 33"/>
          <p:cNvCxnSpPr>
            <a:stCxn id="7" idx="2"/>
            <a:endCxn id="8" idx="0"/>
          </p:cNvCxnSpPr>
          <p:nvPr/>
        </p:nvCxnSpPr>
        <p:spPr>
          <a:xfrm>
            <a:off x="3019425" y="3352800"/>
            <a:ext cx="0" cy="171450"/>
          </a:xfrm>
          <a:prstGeom prst="straightConnector1">
            <a:avLst/>
          </a:prstGeom>
          <a:ln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直接箭头连接符 34"/>
          <p:cNvCxnSpPr>
            <a:stCxn id="8" idx="2"/>
            <a:endCxn id="9" idx="0"/>
          </p:cNvCxnSpPr>
          <p:nvPr/>
        </p:nvCxnSpPr>
        <p:spPr>
          <a:xfrm>
            <a:off x="3019425" y="3962400"/>
            <a:ext cx="0" cy="171450"/>
          </a:xfrm>
          <a:prstGeom prst="straightConnector1">
            <a:avLst/>
          </a:prstGeom>
          <a:ln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直接箭头连接符 35"/>
          <p:cNvCxnSpPr>
            <a:stCxn id="9" idx="2"/>
            <a:endCxn id="10" idx="0"/>
          </p:cNvCxnSpPr>
          <p:nvPr/>
        </p:nvCxnSpPr>
        <p:spPr>
          <a:xfrm>
            <a:off x="3019425" y="4572000"/>
            <a:ext cx="0" cy="171450"/>
          </a:xfrm>
          <a:prstGeom prst="straightConnector1">
            <a:avLst/>
          </a:prstGeom>
          <a:ln w="17145">
            <a:solidFill>
              <a:srgbClr val="58C6D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s7-image-placeholder"/>
          <p:cNvSpPr>
            <a:spLocks noGrp="1"/>
          </p:cNvSpPr>
          <p:nvPr/>
        </p:nvSpPr>
        <p:spPr>
          <a:xfrm>
            <a:off x="6515100" y="1695450"/>
            <a:ext cx="4991100" cy="3333750"/>
          </a:xfrm>
          <a:prstGeom prst="roundRect">
            <a:avLst>
              <a:gd name="adj" fmla="val 4000"/>
            </a:avLst>
          </a:prstGeom>
          <a:solidFill>
            <a:srgbClr val="151C20"/>
          </a:solidFill>
          <a:ln w="14288">
            <a:solidFill>
              <a:srgbClr val="3A474D"/>
            </a:solidFill>
            <a:prstDash val="dash"/>
          </a:ln>
        </p:spPr>
      </p:sp>
      <p:sp>
        <p:nvSpPr>
          <p:cNvPr id="16" name="s7-image-placeholder-label"/>
          <p:cNvSpPr>
            <a:spLocks noGrp="1"/>
          </p:cNvSpPr>
          <p:nvPr/>
        </p:nvSpPr>
        <p:spPr>
          <a:xfrm>
            <a:off x="6781800" y="3009900"/>
            <a:ext cx="445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IMAGE PLACEHOLDER</a:t>
            </a:r>
            <a:endParaRPr sz="120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7-image-placeholder-replace"/>
          <p:cNvSpPr>
            <a:spLocks noGrp="1"/>
          </p:cNvSpPr>
          <p:nvPr/>
        </p:nvSpPr>
        <p:spPr>
          <a:xfrm>
            <a:off x="6781800" y="3343275"/>
            <a:ext cx="4457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Replace with: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Real AMD device photo or local runtime screenshot</a:t>
            </a:r>
            <a:endParaRPr sz="1200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7-evidence"/>
          <p:cNvSpPr>
            <a:spLocks noGrp="1"/>
          </p:cNvSpPr>
          <p:nvPr/>
        </p:nvSpPr>
        <p:spPr>
          <a:xfrm>
            <a:off x="6515100" y="5238750"/>
            <a:ext cx="4991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Local response completed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Structured contract passed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12000"/>
              </a:lnSpc>
              <a:buNone/>
              <a:defRPr sz="12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Human review remained mandatory</a:t>
            </a:r>
            <a:endParaRPr sz="12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7-benchmark-line"/>
          <p:cNvSpPr>
            <a:spLocks noGrp="1"/>
          </p:cNvSpPr>
          <p:nvPr/>
        </p:nvSpPr>
        <p:spPr>
          <a:xfrm>
            <a:off x="685800" y="6115050"/>
            <a:ext cx="323850" cy="0"/>
          </a:xfrm>
          <a:prstGeom prst="line">
            <a:avLst/>
          </a:prstGeom>
          <a:noFill/>
          <a:ln w="19050">
            <a:solidFill>
              <a:srgbClr val="D3A24C"/>
            </a:solidFill>
            <a:prstDash val="solid"/>
          </a:ln>
        </p:spPr>
      </p:sp>
      <p:sp>
        <p:nvSpPr>
          <p:cNvPr id="20" name="s7-benchmark"/>
          <p:cNvSpPr>
            <a:spLocks noGrp="1"/>
          </p:cNvSpPr>
          <p:nvPr/>
        </p:nvSpPr>
        <p:spPr>
          <a:xfrm>
            <a:off x="1162050" y="59817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Integration record — not a performance benchmark.</a:t>
            </a:r>
            <a:endParaRPr sz="1275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footer-rule-7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22" name="footer-7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1" name="图片 10" descr="906b0ed17943d1e780a792900c2ce4c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8390" y="1348105"/>
            <a:ext cx="5547995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eyebrow-8"/>
          <p:cNvSpPr>
            <a:spLocks noGrp="1"/>
          </p:cNvSpPr>
          <p:nvPr/>
        </p:nvSpPr>
        <p:spPr>
          <a:xfrm>
            <a:off x="685800" y="32385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AMD HACKATHON · ENGINEERING REVIEW</a:t>
            </a:r>
            <a:endParaRPr sz="97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page-8"/>
          <p:cNvSpPr>
            <a:spLocks noGrp="1"/>
          </p:cNvSpPr>
          <p:nvPr/>
        </p:nvSpPr>
        <p:spPr>
          <a:xfrm>
            <a:off x="10744200" y="3238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87E"/>
                </a:solidFill>
                <a:latin typeface="Aptos"/>
                <a:ea typeface="Aptos"/>
                <a:cs typeface="Aptos"/>
              </a:rPr>
              <a:t>08 / 08</a:t>
            </a:r>
            <a:endParaRPr sz="975" b="0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itle-8"/>
          <p:cNvSpPr>
            <a:spLocks noGrp="1"/>
          </p:cNvSpPr>
          <p:nvPr/>
        </p:nvSpPr>
        <p:spPr>
          <a:xfrm>
            <a:off x="685800" y="7239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Current Capability and Future Direction</a:t>
            </a:r>
            <a:endParaRPr sz="2850" b="1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itle-rule-8"/>
          <p:cNvSpPr>
            <a:spLocks noGrp="1"/>
          </p:cNvSpPr>
          <p:nvPr/>
        </p:nvSpPr>
        <p:spPr>
          <a:xfrm>
            <a:off x="685800" y="12573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5" name="s8-current-label"/>
          <p:cNvSpPr>
            <a:spLocks noGrp="1"/>
          </p:cNvSpPr>
          <p:nvPr/>
        </p:nvSpPr>
        <p:spPr>
          <a:xfrm>
            <a:off x="685800" y="16002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C6D6"/>
                </a:solidFill>
                <a:latin typeface="Aptos"/>
                <a:ea typeface="Aptos"/>
                <a:cs typeface="Aptos"/>
              </a:rPr>
              <a:t>CURRENT — VERIFIED</a:t>
            </a:r>
            <a:endParaRPr sz="1350" b="1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8-current-rule"/>
          <p:cNvSpPr>
            <a:spLocks noGrp="1"/>
          </p:cNvSpPr>
          <p:nvPr/>
        </p:nvSpPr>
        <p:spPr>
          <a:xfrm>
            <a:off x="685800" y="2038350"/>
            <a:ext cx="476250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7" name="s8-current-0-mark"/>
          <p:cNvSpPr>
            <a:spLocks noGrp="1"/>
          </p:cNvSpPr>
          <p:nvPr/>
        </p:nvSpPr>
        <p:spPr>
          <a:xfrm>
            <a:off x="685800" y="252412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8" name="s8-current-0"/>
          <p:cNvSpPr>
            <a:spLocks noGrp="1"/>
          </p:cNvSpPr>
          <p:nvPr/>
        </p:nvSpPr>
        <p:spPr>
          <a:xfrm>
            <a:off x="990600" y="24003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Controlled air-conditioner troubleshooting demo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8-current-1-mark"/>
          <p:cNvSpPr>
            <a:spLocks noGrp="1"/>
          </p:cNvSpPr>
          <p:nvPr/>
        </p:nvSpPr>
        <p:spPr>
          <a:xfrm>
            <a:off x="685800" y="320992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10" name="s8-current-1"/>
          <p:cNvSpPr>
            <a:spLocks noGrp="1"/>
          </p:cNvSpPr>
          <p:nvPr/>
        </p:nvSpPr>
        <p:spPr>
          <a:xfrm>
            <a:off x="990600" y="30861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Local Ollama analysis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8-current-2-mark"/>
          <p:cNvSpPr>
            <a:spLocks noGrp="1"/>
          </p:cNvSpPr>
          <p:nvPr/>
        </p:nvSpPr>
        <p:spPr>
          <a:xfrm>
            <a:off x="685800" y="389572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12" name="s8-current-2"/>
          <p:cNvSpPr>
            <a:spLocks noGrp="1"/>
          </p:cNvSpPr>
          <p:nvPr/>
        </p:nvSpPr>
        <p:spPr>
          <a:xfrm>
            <a:off x="990600" y="37719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Structured output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8-current-3-mark"/>
          <p:cNvSpPr>
            <a:spLocks noGrp="1"/>
          </p:cNvSpPr>
          <p:nvPr/>
        </p:nvSpPr>
        <p:spPr>
          <a:xfrm>
            <a:off x="685800" y="4581525"/>
            <a:ext cx="171450" cy="0"/>
          </a:xfrm>
          <a:prstGeom prst="line">
            <a:avLst/>
          </a:prstGeom>
          <a:noFill/>
          <a:ln w="19050">
            <a:solidFill>
              <a:srgbClr val="58C6D6"/>
            </a:solidFill>
            <a:prstDash val="solid"/>
          </a:ln>
        </p:spPr>
      </p:sp>
      <p:sp>
        <p:nvSpPr>
          <p:cNvPr id="14" name="s8-current-3"/>
          <p:cNvSpPr>
            <a:spLocks noGrp="1"/>
          </p:cNvSpPr>
          <p:nvPr/>
        </p:nvSpPr>
        <p:spPr>
          <a:xfrm>
            <a:off x="990600" y="44577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2EFE8"/>
                </a:solidFill>
                <a:latin typeface="Aptos"/>
                <a:ea typeface="Aptos"/>
                <a:cs typeface="Aptos"/>
              </a:rPr>
              <a:t>Human review workflow</a:t>
            </a:r>
            <a:endParaRPr sz="1575" b="0">
              <a:solidFill>
                <a:srgbClr val="F2EF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8-divider"/>
          <p:cNvSpPr>
            <a:spLocks noGrp="1"/>
          </p:cNvSpPr>
          <p:nvPr/>
        </p:nvSpPr>
        <p:spPr>
          <a:xfrm>
            <a:off x="6096000" y="1581150"/>
            <a:ext cx="0" cy="352425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16" name="s8-future-label"/>
          <p:cNvSpPr>
            <a:spLocks noGrp="1"/>
          </p:cNvSpPr>
          <p:nvPr/>
        </p:nvSpPr>
        <p:spPr>
          <a:xfrm>
            <a:off x="6743700" y="16002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FUTURE — PLANNED</a:t>
            </a:r>
            <a:endParaRPr sz="135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8-future-rule"/>
          <p:cNvSpPr>
            <a:spLocks noGrp="1"/>
          </p:cNvSpPr>
          <p:nvPr/>
        </p:nvSpPr>
        <p:spPr>
          <a:xfrm>
            <a:off x="6743700" y="2038350"/>
            <a:ext cx="4762500" cy="0"/>
          </a:xfrm>
          <a:prstGeom prst="line">
            <a:avLst/>
          </a:prstGeom>
          <a:noFill/>
          <a:ln w="19050">
            <a:solidFill>
              <a:srgbClr val="3A474D"/>
            </a:solidFill>
            <a:prstDash val="dash"/>
          </a:ln>
        </p:spPr>
      </p:sp>
      <p:sp>
        <p:nvSpPr>
          <p:cNvPr id="18" name="s8-future-mark-0"/>
          <p:cNvSpPr>
            <a:spLocks noGrp="1"/>
          </p:cNvSpPr>
          <p:nvPr/>
        </p:nvSpPr>
        <p:spPr>
          <a:xfrm>
            <a:off x="6743700" y="2524125"/>
            <a:ext cx="171450" cy="0"/>
          </a:xfrm>
          <a:prstGeom prst="line">
            <a:avLst/>
          </a:prstGeom>
          <a:noFill/>
          <a:ln w="14288">
            <a:solidFill>
              <a:srgbClr val="6E787E"/>
            </a:solidFill>
            <a:prstDash val="solid"/>
          </a:ln>
        </p:spPr>
      </p:sp>
      <p:sp>
        <p:nvSpPr>
          <p:cNvPr id="19" name="s8-future-0"/>
          <p:cNvSpPr>
            <a:spLocks noGrp="1"/>
          </p:cNvSpPr>
          <p:nvPr/>
        </p:nvSpPr>
        <p:spPr>
          <a:xfrm>
            <a:off x="7048500" y="24003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Additional Digital Employees</a:t>
            </a:r>
            <a:endParaRPr sz="15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8-future-mark-1"/>
          <p:cNvSpPr>
            <a:spLocks noGrp="1"/>
          </p:cNvSpPr>
          <p:nvPr/>
        </p:nvSpPr>
        <p:spPr>
          <a:xfrm>
            <a:off x="6743700" y="3324225"/>
            <a:ext cx="171450" cy="0"/>
          </a:xfrm>
          <a:prstGeom prst="line">
            <a:avLst/>
          </a:prstGeom>
          <a:noFill/>
          <a:ln w="14288">
            <a:solidFill>
              <a:srgbClr val="6E787E"/>
            </a:solidFill>
            <a:prstDash val="solid"/>
          </a:ln>
        </p:spPr>
      </p:sp>
      <p:sp>
        <p:nvSpPr>
          <p:cNvPr id="21" name="s8-future-1"/>
          <p:cNvSpPr>
            <a:spLocks noGrp="1"/>
          </p:cNvSpPr>
          <p:nvPr/>
        </p:nvSpPr>
        <p:spPr>
          <a:xfrm>
            <a:off x="7048500" y="32004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Sensor and vision integration</a:t>
            </a:r>
            <a:endParaRPr sz="15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8-future-mark-2"/>
          <p:cNvSpPr>
            <a:spLocks noGrp="1"/>
          </p:cNvSpPr>
          <p:nvPr/>
        </p:nvSpPr>
        <p:spPr>
          <a:xfrm>
            <a:off x="6743700" y="4124325"/>
            <a:ext cx="171450" cy="0"/>
          </a:xfrm>
          <a:prstGeom prst="line">
            <a:avLst/>
          </a:prstGeom>
          <a:noFill/>
          <a:ln w="14288">
            <a:solidFill>
              <a:srgbClr val="6E787E"/>
            </a:solidFill>
            <a:prstDash val="solid"/>
          </a:ln>
        </p:spPr>
      </p:sp>
      <p:sp>
        <p:nvSpPr>
          <p:cNvPr id="23" name="s8-future-2"/>
          <p:cNvSpPr>
            <a:spLocks noGrp="1"/>
          </p:cNvSpPr>
          <p:nvPr/>
        </p:nvSpPr>
        <p:spPr>
          <a:xfrm>
            <a:off x="7048500" y="40005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0B4"/>
                </a:solidFill>
                <a:latin typeface="Aptos"/>
                <a:ea typeface="Aptos"/>
                <a:cs typeface="Aptos"/>
              </a:rPr>
              <a:t>Industrial context layer</a:t>
            </a:r>
            <a:endParaRPr sz="1575" b="0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s8-close-rule"/>
          <p:cNvSpPr>
            <a:spLocks noGrp="1"/>
          </p:cNvSpPr>
          <p:nvPr/>
        </p:nvSpPr>
        <p:spPr>
          <a:xfrm>
            <a:off x="685800" y="5467350"/>
            <a:ext cx="10820400" cy="0"/>
          </a:xfrm>
          <a:prstGeom prst="line">
            <a:avLst/>
          </a:prstGeom>
          <a:noFill/>
          <a:ln w="9525">
            <a:solidFill>
              <a:srgbClr val="3A474D"/>
            </a:solidFill>
            <a:prstDash val="solid"/>
          </a:ln>
        </p:spPr>
      </p:sp>
      <p:sp>
        <p:nvSpPr>
          <p:cNvPr id="25" name="s8-close"/>
          <p:cNvSpPr>
            <a:spLocks noGrp="1"/>
          </p:cNvSpPr>
          <p:nvPr/>
        </p:nvSpPr>
        <p:spPr>
          <a:xfrm>
            <a:off x="685800" y="565785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58C6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8C6D6"/>
                </a:solidFill>
                <a:latin typeface="Aptos"/>
                <a:ea typeface="Aptos"/>
                <a:cs typeface="Aptos"/>
              </a:rPr>
              <a:t>Current value: bounded local analysis with a visible human decision boundary.</a:t>
            </a:r>
            <a:endParaRPr sz="1425" b="0">
              <a:solidFill>
                <a:srgbClr val="58C6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8-boundary"/>
          <p:cNvSpPr>
            <a:spLocks noGrp="1"/>
          </p:cNvSpPr>
          <p:nvPr/>
        </p:nvSpPr>
        <p:spPr>
          <a:xfrm>
            <a:off x="7448550" y="565785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1">
                <a:solidFill>
                  <a:srgbClr val="A9B0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0B4"/>
                </a:solidFill>
                <a:latin typeface="Aptos"/>
                <a:ea typeface="Aptos"/>
                <a:cs typeface="Aptos"/>
              </a:rPr>
              <a:t>Future items are not part of the Hackathon release.</a:t>
            </a:r>
            <a:endParaRPr sz="1200" b="1">
              <a:solidFill>
                <a:srgbClr val="A9B0B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footer-rule-8"/>
          <p:cNvSpPr>
            <a:spLocks noGrp="1"/>
          </p:cNvSpPr>
          <p:nvPr/>
        </p:nvSpPr>
        <p:spPr>
          <a:xfrm>
            <a:off x="685800" y="6438900"/>
            <a:ext cx="10820400" cy="0"/>
          </a:xfrm>
          <a:prstGeom prst="line">
            <a:avLst/>
          </a:prstGeom>
          <a:noFill/>
          <a:ln w="9525">
            <a:solidFill>
              <a:srgbClr val="2B353A"/>
            </a:solidFill>
            <a:prstDash val="solid"/>
          </a:ln>
        </p:spPr>
      </p:sp>
      <p:sp>
        <p:nvSpPr>
          <p:cNvPr id="28" name="footer-8"/>
          <p:cNvSpPr>
            <a:spLocks noGrp="1"/>
          </p:cNvSpPr>
          <p:nvPr/>
        </p:nvSpPr>
        <p:spPr>
          <a:xfrm>
            <a:off x="6858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>
                <a:solidFill>
                  <a:srgbClr val="6E787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787E"/>
                </a:solidFill>
                <a:latin typeface="Aptos"/>
                <a:ea typeface="Aptos"/>
                <a:cs typeface="Aptos"/>
              </a:rPr>
              <a:t>ALPHANOAH A1 EDGE AGENT</a:t>
            </a:r>
            <a:endParaRPr sz="825" b="1">
              <a:solidFill>
                <a:srgbClr val="6E78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2888</Words>
  <Application>WPS 演示</Application>
  <PresentationFormat>Converted Presentation</PresentationFormat>
  <Paragraphs>225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陈彬</cp:lastModifiedBy>
  <cp:revision>1</cp:revision>
  <dcterms:created xsi:type="dcterms:W3CDTF">2026-08-06T10:56:57Z</dcterms:created>
  <dcterms:modified xsi:type="dcterms:W3CDTF">2026-08-06T10:56:57Z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20434C59A045409F9C903316CFDED36E_12</vt:lpwstr>
  </property>
</Properties>
</file>